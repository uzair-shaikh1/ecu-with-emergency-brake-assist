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3520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KPIT APEX LAB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Program  |  Academic Year 2025-2026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058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1031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Supervisor ECU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Emergency Brake Assist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 Automotive Safety ECU built on STM32, integrating LIDAR and IMU sensing with CAN-based emergency brake control.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7863840" cy="0"/>
          </a:xfrm>
          <a:prstGeom prst="line">
            <a:avLst/>
          </a:prstGeom>
          <a:noFill/>
          <a:ln w="9525">
            <a:solidFill>
              <a:srgbClr val="3B44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Uzair Shaikh, Om Raut, Sahil Deshmukh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4074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Isheet Patel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Supervisor ECU with Emergency Brake Assist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 Emergency Brake Assist ECU?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074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driver reaction is one of the leading causes of rear-end collisions. Even an attentive driver needs time to perceive an obstacle, decide, and brake — during which the vehicle keeps moving. Advanced Driver Assistance Systems (ADAS), particularly Automatic Emergency Braking (AEB), close this gap by monitoring the surroundings and intervening automatically when required.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implements a prototype Safety Supervisor ECU on an STM32 Nucleo-F446RE. It continuously reads LIDAR and IMU sensor data, classifies the vehicle into a safety state, and issues emergency braking commands over CAN to a FireBird V robot acting as the experimental vehicle.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06440" y="1371600"/>
            <a:ext cx="2880360" cy="3246120"/>
          </a:xfrm>
          <a:prstGeom prst="roundRect">
            <a:avLst>
              <a:gd name="adj" fmla="val 2540"/>
            </a:avLst>
          </a:prstGeom>
          <a:solidFill>
            <a:srgbClr val="EEF2FB"/>
          </a:solidFill>
          <a:ln/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7" name="Image 0" descr="ic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91640"/>
            <a:ext cx="777240" cy="777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8076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Idea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080760" y="29718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distance → Classify risk → Alert the driver → Brake automatically, reproducing the core logic of modern AEB systems on an embedded, low-cost platform.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Supervisor ECU with Emergency Brake Assist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17320"/>
          </a:xfrm>
          <a:prstGeom prst="roundRect">
            <a:avLst>
              <a:gd name="adj" fmla="val 4516"/>
            </a:avLst>
          </a:prstGeom>
          <a:solidFill>
            <a:srgbClr val="EEF2FB"/>
          </a:solidFill>
          <a:ln/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5" name="Image 0" descr="ic_li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9164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5179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Obstacle Sensing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600200" y="1883664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measure distance to obstacles using the LIDAR Lite v3HP and monitor vehicle motion via the MPU6050 IMU.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1371600"/>
            <a:ext cx="3977640" cy="1417320"/>
          </a:xfrm>
          <a:prstGeom prst="roundRect">
            <a:avLst>
              <a:gd name="adj" fmla="val 4516"/>
            </a:avLst>
          </a:prstGeom>
          <a:solidFill>
            <a:srgbClr val="EEF2FB"/>
          </a:solidFill>
          <a:ln/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9" name="Image 1" descr="ic_objec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691640"/>
            <a:ext cx="777240" cy="777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52160" y="15179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Three-Level Safety Classification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852160" y="1883664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vehicle into Normal, Warning, or Emergency states based on live sensor data.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063240"/>
            <a:ext cx="3977640" cy="1417320"/>
          </a:xfrm>
          <a:prstGeom prst="roundRect">
            <a:avLst>
              <a:gd name="adj" fmla="val 4516"/>
            </a:avLst>
          </a:prstGeom>
          <a:solidFill>
            <a:srgbClr val="EEF2FB"/>
          </a:solidFill>
          <a:ln/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13" name="Image 2" descr="ic_c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383280"/>
            <a:ext cx="777240" cy="7772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32095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CAN-Based Brake Control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600200" y="3575304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emergency braking commands from the STM32 ECU to the FireBird V robot over a CAN bus.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09160" y="3063240"/>
            <a:ext cx="3977640" cy="1417320"/>
          </a:xfrm>
          <a:prstGeom prst="roundRect">
            <a:avLst>
              <a:gd name="adj" fmla="val 4516"/>
            </a:avLst>
          </a:prstGeom>
          <a:solidFill>
            <a:srgbClr val="EEF2FB"/>
          </a:solidFill>
          <a:ln/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17" name="Image 3" descr="ic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383280"/>
            <a:ext cx="777240" cy="7772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52160" y="32095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 &amp; Visualization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852160" y="3575304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sensor data and safety states on a Raspberry Pi and present them on a live dashboard.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Supervisor ECU with Emergency Brake Assist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8620" y="1783080"/>
            <a:ext cx="1874520" cy="1005840"/>
          </a:xfrm>
          <a:prstGeom prst="roundRect">
            <a:avLst>
              <a:gd name="adj" fmla="val 6364"/>
            </a:avLst>
          </a:prstGeom>
          <a:solidFill>
            <a:srgbClr val="EEF2FB"/>
          </a:solidFill>
          <a:ln/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7176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25780" y="2235731"/>
            <a:ext cx="1600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Lite v3HP + MPU6050 IMU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880360" y="1549931"/>
            <a:ext cx="2331720" cy="1371600"/>
          </a:xfrm>
          <a:prstGeom prst="roundRect">
            <a:avLst>
              <a:gd name="adj" fmla="val 4667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17520" y="1937758"/>
            <a:ext cx="2057400" cy="2270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STM32 Nucleo-F446RE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17520" y="2194560"/>
            <a:ext cx="20574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Supervisor ECU — state classification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0" y="91440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005840"/>
            <a:ext cx="2057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FireBird V Robot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80760" y="1485900"/>
            <a:ext cx="205740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brake / motion commands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0" y="224028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2331720"/>
            <a:ext cx="2057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Raspberry Pi 4B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80760" y="2811780"/>
            <a:ext cx="205740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+ live dashboard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880360" y="3287245"/>
            <a:ext cx="2331720" cy="868680"/>
          </a:xfrm>
          <a:prstGeom prst="roundRect">
            <a:avLst>
              <a:gd name="adj" fmla="val 7368"/>
            </a:avLst>
          </a:prstGeom>
          <a:solidFill>
            <a:srgbClr val="EEF2FB"/>
          </a:solidFill>
          <a:ln/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017520" y="3253001"/>
            <a:ext cx="2057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Alerts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017520" y="3680460"/>
            <a:ext cx="20574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 •  Buzzer  •  LCD Display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40280" y="2194560"/>
            <a:ext cx="640080" cy="0"/>
          </a:xfrm>
          <a:prstGeom prst="line">
            <a:avLst/>
          </a:prstGeom>
          <a:noFill/>
          <a:ln w="22225">
            <a:solidFill>
              <a:srgbClr val="9AA6C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5212080" y="1417320"/>
            <a:ext cx="731520" cy="411480"/>
          </a:xfrm>
          <a:prstGeom prst="line">
            <a:avLst/>
          </a:prstGeom>
          <a:noFill/>
          <a:ln w="22225">
            <a:solidFill>
              <a:srgbClr val="9AA6C9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212080" y="131216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Bus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12080" y="2514600"/>
            <a:ext cx="731520" cy="137160"/>
          </a:xfrm>
          <a:prstGeom prst="line">
            <a:avLst/>
          </a:prstGeom>
          <a:noFill/>
          <a:ln w="22225">
            <a:solidFill>
              <a:srgbClr val="9AA6C9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212080" y="227228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050792" y="2880360"/>
            <a:ext cx="0" cy="365760"/>
          </a:xfrm>
          <a:prstGeom prst="line">
            <a:avLst/>
          </a:prstGeom>
          <a:noFill/>
          <a:ln w="22225">
            <a:solidFill>
              <a:srgbClr val="9AA6C9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Supervisor ECU with Emergency Brake Assist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Components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218688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the 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STM32 Nucleo-F446RE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ECU — sensor processing, state logic, alerts &amp; CAN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FireBird V Robot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Experimental vehicle platform; executes braking and motion commands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LIDAR Lite v3HP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Laser sensor for real-time obstacle distance measurement (I2C)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MPU6050 IMU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6-axis accel + gyro for vehicle motion and deceleration data (I2C)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MCP2515 CAN Module (x2)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SPI-to-CAN controllers linking the STM32 ECU and FireBird V robot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4B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logging, CSV storage and dashboard visualization (Python)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LCD, LEDs &amp; Buzzer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and audible driver-alert indicators for each safety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Supervisor ECU with Emergency Brake Assist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Technologies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144576"/>
              </p:ext>
            </p:extLst>
          </p:nvPr>
        </p:nvGraphicFramePr>
        <p:xfrm>
          <a:off x="457200" y="1325880"/>
          <a:ext cx="8229600" cy="301752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IDE/STM32CubeIDE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development, debugging and flashing for the STM32 ECU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STM32CubeMX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Graphical config of I2C, SPI, CAN, GPIO and timer peripherals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Atmel Studio 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 and debugging the FireBird V robot's ATmega2560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logging scripts, serial parsing and dashboard visuals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environment for logging and monitoring application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Supervisor ECU with Emergency Brake Assist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State Classification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E7F3E8"/>
          </a:solidFill>
          <a:ln/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5" name="Image 0" descr="ic_nor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0" y="16916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651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100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3063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distance from obstacle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3566160"/>
            <a:ext cx="1874520" cy="0"/>
          </a:xfrm>
          <a:prstGeom prst="line">
            <a:avLst/>
          </a:prstGeom>
          <a:noFill/>
          <a:ln w="9525">
            <a:solidFill>
              <a:srgbClr val="2E7D32">
                <a:alpha val="6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68503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Full-speed operation continues; system keeps monitoring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73552" y="141732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BF0DD"/>
          </a:solidFill>
          <a:ln/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11" name="Image 1" descr="ic_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5092" y="1691640"/>
            <a:ext cx="822960" cy="8229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73552" y="2651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100" dirty="0">
                <a:solidFill>
                  <a:srgbClr val="C77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WARNING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456432" y="3063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getting closer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39312" y="3566160"/>
            <a:ext cx="1874520" cy="0"/>
          </a:xfrm>
          <a:prstGeom prst="line">
            <a:avLst/>
          </a:prstGeom>
          <a:noFill/>
          <a:ln w="9525">
            <a:solidFill>
              <a:srgbClr val="C77700">
                <a:alpha val="6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56432" y="368503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LED + buzzer alert; gradual motor speed reduction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89904" y="141732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BE9E7"/>
          </a:solidFill>
          <a:ln/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17" name="Image 2" descr="ic_emergenc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1444" y="1691640"/>
            <a:ext cx="822960" cy="8229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89904" y="2651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100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272784" y="3063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risk very high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55664" y="3566160"/>
            <a:ext cx="1874520" cy="0"/>
          </a:xfrm>
          <a:prstGeom prst="line">
            <a:avLst/>
          </a:prstGeom>
          <a:noFill/>
          <a:ln w="9525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272784" y="368503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LED + buzzer; controlled rapid motor stop via CAN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57200" y="45902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 and moving-average filtering on the LIDAR readings prevent rapid oscillation between states near threshold boundaries.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Supervisor ECU with Emergency Brake Assist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Communication &amp; Brake Assist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MCP2515 CAN controllers — one on the STM32 ECU, one on the FireBird V — form a CAN bus between the two platforms. Brake commands are given the highest CAN message priority for fastest transmission, and bus-termination resistors keep signal integrity high.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5029200" cy="20116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Sent Over 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at current speed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77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Gradual reduction to ~50% speed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Controlled rapid motor stop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2331720"/>
            <a:ext cx="2880360" cy="2148840"/>
          </a:xfrm>
          <a:prstGeom prst="roundRect">
            <a:avLst>
              <a:gd name="adj" fmla="val 3404"/>
            </a:avLst>
          </a:prstGeom>
          <a:solidFill>
            <a:srgbClr val="EEF2FB"/>
          </a:solidFill>
          <a:ln/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7" name="Image 0" descr="ic_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2560320"/>
            <a:ext cx="594360" cy="59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08192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CAN?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108192" y="350215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is the standard, noise-resistant, multi-node protocol used across modern automotive networks — ideal for reliable safety-critical commands.</a:t>
            </a:r>
            <a:endParaRPr lang="en-US" sz="1050" dirty="0"/>
          </a:p>
        </p:txBody>
      </p:sp>
      <p:sp>
        <p:nvSpPr>
          <p:cNvPr id="5" name="Text 6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Supervisor ECU with Emergency Brake Assist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Logging &amp;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STM32 ECU streams safety-state, distance and IMU data to a Raspberry Pi 4B over UART. A Python script parses and logs each reading to CSV with a timestamp, while a live dashboard visualizes vehicle state, PWM speed, brake status and a rolling event log.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UART packet with start/end markers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34472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Buffered CSV logging with timestamps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38313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dashboard: state, speed, brake status, events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298448"/>
            <a:ext cx="4343400" cy="3246120"/>
          </a:xfrm>
          <a:prstGeom prst="roundRect">
            <a:avLst>
              <a:gd name="adj" fmla="val 1408"/>
            </a:avLst>
          </a:prstGeom>
          <a:solidFill>
            <a:srgbClr val="0B1230"/>
          </a:solidFill>
          <a:ln/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9" name="Image 0" descr="img-00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62272" y="1417320"/>
            <a:ext cx="4105656" cy="246339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462272" y="3977640"/>
            <a:ext cx="4105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dashboard — live safety state, PWM speed and event log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Supervisor ECU with Emergency Brake Assist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26032"/>
            <a:ext cx="3246120" cy="3246120"/>
          </a:xfrm>
          <a:prstGeom prst="roundRect">
            <a:avLst>
              <a:gd name="adj" fmla="val 3273"/>
            </a:avLst>
          </a:prstGeom>
          <a:solidFill>
            <a:srgbClr val="F1F1F1"/>
          </a:solidFill>
          <a:ln/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977640" y="1126032"/>
            <a:ext cx="2423160" cy="1417320"/>
          </a:xfrm>
          <a:prstGeom prst="roundRect">
            <a:avLst>
              <a:gd name="adj" fmla="val 4516"/>
            </a:avLst>
          </a:prstGeom>
          <a:solidFill>
            <a:srgbClr val="EEF2FB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0" y="12357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114800" y="176611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states validated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(Normal / Warning / Emergency)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629400" y="1126032"/>
            <a:ext cx="2423160" cy="1417320"/>
          </a:xfrm>
          <a:prstGeom prst="roundRect">
            <a:avLst>
              <a:gd name="adj" fmla="val 4516"/>
            </a:avLst>
          </a:prstGeom>
          <a:solidFill>
            <a:srgbClr val="EEF2FB"/>
          </a:solidFill>
          <a:ln/>
        </p:spPr>
      </p:sp>
      <p:sp>
        <p:nvSpPr>
          <p:cNvPr id="10" name="Text 7"/>
          <p:cNvSpPr/>
          <p:nvPr/>
        </p:nvSpPr>
        <p:spPr>
          <a:xfrm>
            <a:off x="6766560" y="12357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766560" y="176611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nodes communicating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(STM32 ECU ↔ FireBird V)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977640" y="2771952"/>
            <a:ext cx="2423160" cy="1417320"/>
          </a:xfrm>
          <a:prstGeom prst="roundRect">
            <a:avLst>
              <a:gd name="adj" fmla="val 4516"/>
            </a:avLst>
          </a:prstGeom>
          <a:solidFill>
            <a:srgbClr val="EEF2FB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0" y="2881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114800" y="341203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verified — sensing to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braking to logging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629400" y="2771952"/>
            <a:ext cx="2423160" cy="1417320"/>
          </a:xfrm>
          <a:prstGeom prst="roundRect">
            <a:avLst>
              <a:gd name="adj" fmla="val 4516"/>
            </a:avLst>
          </a:prstGeom>
          <a:solidFill>
            <a:srgbClr val="EEF2FB"/>
          </a:solidFill>
          <a:ln/>
        </p:spPr>
      </p:sp>
      <p:sp>
        <p:nvSpPr>
          <p:cNvPr id="16" name="Text 13"/>
          <p:cNvSpPr/>
          <p:nvPr/>
        </p:nvSpPr>
        <p:spPr>
          <a:xfrm>
            <a:off x="6766560" y="2881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Extended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766560" y="341203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Continuous-run reliability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completed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4417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through static and dynamic obstacle tests, with objects at varying distance and approach speed confirming correct state transitions and brake responses.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Supervisor ECU with Emergency Brake Assist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C8D2BB2-261C-4C5C-4C89-C980C856A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143000"/>
            <a:ext cx="3246121" cy="32291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 Scenarios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32004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ECU Response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vehicle brakes suddenly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 stop if time-to-collision is unsafe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Pedestrian crosses ahead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emergency braking; event logged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runs out near school zone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priority; immediate stop + alert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Animal appears on road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 or Emergency based on distance/speed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vehicle slows gradually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77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 state; alert driver, prepare to slow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Rain, fog or dust noise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77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sampling; degraded safe mode if uncertain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Supervisor ECU with Emergency Brake Assist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EEF2FB"/>
          </a:solidFill>
          <a:ln/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5" name="Image 0" descr="ic_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53619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212140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Multi-Sensor Fusion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23957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thermal camera and radar with LIDAR for stronger obstacle classification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73552" y="137160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EEF2FB"/>
          </a:solidFill>
          <a:ln/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9" name="Image 1" descr="ic_g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252" y="1536192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3280" y="212140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 Tracking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410712" y="23957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monitoring and fleet-level supervision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089904" y="137160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EEF2FB"/>
          </a:solidFill>
          <a:ln/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13" name="Image 2" descr="ic_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8604" y="1536192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99632" y="212140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Logging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227064" y="23957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Remote, real-time access to logs via Wi-Fi / cellular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57200" y="301752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EEF2FB"/>
          </a:solidFill>
          <a:ln/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17" name="Image 3" descr="ic_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182112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6928" y="376732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Drowsiness Detection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94360" y="40416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Camera-based driver monitoring as an added safety layer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3273552" y="301752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EEF2FB"/>
          </a:solidFill>
          <a:ln/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21" name="Image 4" descr="ic_a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2252" y="3182112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383280" y="376732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 AI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410712" y="40416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On-ECU object detection and predictive collision avoidance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6089904" y="301752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EEF2FB"/>
          </a:solidFill>
          <a:ln/>
          <a:effectLst>
            <a:outerShdw blurRad="101600" dist="38100" dir="5400000" algn="bl" rotWithShape="0">
              <a:srgbClr val="1E2761">
                <a:alpha val="10000"/>
              </a:srgbClr>
            </a:outerShdw>
          </a:effectLst>
        </p:spPr>
      </p:sp>
      <p:pic>
        <p:nvPicPr>
          <p:cNvPr id="25" name="Image 5" descr="ic_rto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8604" y="3182112"/>
            <a:ext cx="548640" cy="5486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199632" y="3767328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FreeRTOS Integration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227064" y="40416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task scheduling for safety-critical timing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Supervisor ECU with Emergency Brake Assist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Supervisor ECU project successfully demonstrates a working prototype automotive safety system — combining real-time LIDAR/IMU sensing, three-level safety state classification, CAN-based emergency brake control, and Raspberry Pi data logging on a low-cost embedded platform.</a:t>
            </a:r>
            <a:endParaRPr lang="en-US" sz="1350" dirty="0"/>
          </a:p>
        </p:txBody>
      </p:sp>
      <p:pic>
        <p:nvPicPr>
          <p:cNvPr id="5" name="Image 0" descr="ic_nor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688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45059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sensor integration and real-time decision-making</a:t>
            </a:r>
            <a:endParaRPr lang="en-US" sz="1300" dirty="0"/>
          </a:p>
        </p:txBody>
      </p:sp>
      <p:pic>
        <p:nvPicPr>
          <p:cNvPr id="7" name="Image 1" descr="ic_nor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90779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CAN-based communication between STM32 ECU and FireBird V robot</a:t>
            </a:r>
            <a:endParaRPr lang="en-US" sz="1300" dirty="0"/>
          </a:p>
        </p:txBody>
      </p:sp>
      <p:pic>
        <p:nvPicPr>
          <p:cNvPr id="9" name="Image 2" descr="ic_nor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8328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336499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emergency braking with multi-modal driver alerts</a:t>
            </a:r>
            <a:endParaRPr lang="en-US" sz="1300" dirty="0"/>
          </a:p>
        </p:txBody>
      </p:sp>
      <p:pic>
        <p:nvPicPr>
          <p:cNvPr id="11" name="Image 3" descr="ic_nor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4400" y="382219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data logging and live dashboard visualization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Supervisor ECU with Emergency Brake Assist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148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Supervisor ECU with Emergency Brake Assist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788920"/>
            <a:ext cx="7863840" cy="0"/>
          </a:xfrm>
          <a:prstGeom prst="line">
            <a:avLst/>
          </a:prstGeom>
          <a:noFill/>
          <a:ln w="9525">
            <a:solidFill>
              <a:srgbClr val="3B448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71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sincere thanks to: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Isheet Patel</a:t>
            </a:r>
            <a:r>
              <a:rPr lang="en-US" sz="1250" dirty="0">
                <a:solidFill>
                  <a:srgbClr val="B7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Project Mentor, KPIT APEX LAB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 Narkhede &amp; Suraj Vashishtha</a:t>
            </a:r>
            <a:r>
              <a:rPr lang="en-US" sz="1250" dirty="0">
                <a:solidFill>
                  <a:srgbClr val="B7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 technical support throughout development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KPIT APEX LAB</a:t>
            </a:r>
            <a:r>
              <a:rPr lang="en-US" sz="1250" dirty="0">
                <a:solidFill>
                  <a:srgbClr val="B7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 the opportunity to work on this internship project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Supervisor ECU with Emergency Brake Assist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1222</Words>
  <Application>Microsoft Office PowerPoint</Application>
  <PresentationFormat>On-screen Show (16:9)</PresentationFormat>
  <Paragraphs>208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Safety Supervisor ECU with Emergency Brake Assist</dc:title>
  <dc:subject>PptxGenJS Presentation</dc:subject>
  <dc:creator>Uzair Shaikh, Om Raut, Sahil Deshmukh</dc:creator>
  <cp:lastModifiedBy>OM RAUT</cp:lastModifiedBy>
  <cp:revision>3</cp:revision>
  <dcterms:created xsi:type="dcterms:W3CDTF">2026-07-02T10:26:20Z</dcterms:created>
  <dcterms:modified xsi:type="dcterms:W3CDTF">2026-07-02T11:33:50Z</dcterms:modified>
</cp:coreProperties>
</file>